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Вклад в успех ИИ-проекта</c:v>
                </c:pt>
              </c:strCache>
            </c:strRef>
          </c:tx>
          <c:spPr>
            <a:solidFill>
              <a:srgbClr val="D9B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9D3A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Люди, процессы, управление</c:v>
                  </c:pt>
                  <c:pt idx="1">
                    <c:v>Технологии и данные</c:v>
                  </c:pt>
                  <c:pt idx="2">
                    <c:v>Алгоритмы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E9D3A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0E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Обложка. Источники: MIT State of AI in Business 2025 (95% GenAI-пилотов без измеримого эффекта на P&amp;L); «Яков и Партнёры» × Яндекс, 2025 (11–13 трлн ₽ к 2030).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2025: 95% пилотов без эффекта. К2Тех 2026: до 70% ИИ-экспериментов не доходят до прома; доля пилотов без продолжения 90→80%. Теневое использование: опросы 2025–2026.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MWS (МТС Web Services), опрос 700+ компаний, декабрь 2025. hh.ru, октябрь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BCG 10-20-70. MIT 2025 learning gap. McKinsey State of AI 2025: process redesign → EBIT. СберУниверситет × АМ, май 2026: 26% / 74%.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BCG AI Radar 2026. Кейс Совкомбанка: 2025–2026, публичные данные (Фонтанка, AKM).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Ценовой скан рынка «ИИ для руководителей» 2025–2026: онлайн от 85 тыс., модульные программы до 1,6–1,85 млн ₽ за слушателя.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 3 выделен: стратсессия — ядро методологии DT-Team (игротехника/ОДИ). Механика программы: модули × контуры (образование, консалтинг, разработка, сопровождение, культура), уровни зрелости 1–5, итог — внедрённое решение с подтверждённым эффектом.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McKinsey State of AI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Кейсы именуются на встрече (NDA). СКОЛКОВО — школа №1 в Executive-образовании РФ.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Сбер: Interfax/ComNews 2025–2026. X5: TelecomDaily 06.2026. Совкомбанк: Фонтанка 02.2026. ЯиП × Яндекс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Цены DT-Team называются по итогам диагностики; в слайде — ценовой контекст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предложение зафиксировать дату установочной встречи.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ЕВГЕНИЙ ГРИГОРЬЕВ · ЭКСПЕРТ БИЗНЕС-ШКОЛЫ СКОЛКОВО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уже работает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вашей компании.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вашу прибыль он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не работает.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617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ИИ через трансформацию управленческой команды: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 → обучение → стратегическая сессия → пилоты с сопровождением.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732520" y="1463040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1783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006840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ИИ-пилотов не дают эффекта на P&amp;L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(MIT, 2025)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00684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трлн 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006840" y="4297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потенциал ИИ для экономики РФ к 2030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(ЯиП × Яндекс)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в ИИ сгорают — и это не ваша уникальная проблема, это норма рынка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корпоративных GenAI-пилотов 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ноль эффекта на P&amp;L · MIT, 2025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экспериментов не доходят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промышленной эксплуатации · К2Тех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2651760"/>
            <a:ext cx="685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Внедряют все — трансформируются 5%: пилоты не масштабируются без перестройки процессов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РФ: из GenAI-пилотов 2025 года до прома дошли 7–10%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90%+ компаний сотрудники уже пользуются личным ИИ «в тени» — компания платит за пилоты, а ценность утекает мимо процессов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ДИАГНОЗ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на ИИ у вас уже есть. Стратегии — скорее всего, нет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компаний с бюджетом на ИИ имеют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ИИ-стратегию · MWS, 700+ компаний, 2025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63440" y="2651760"/>
            <a:ext cx="6858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компаний с ИИ-бюджетом не имеют ИИ-стратегии; даже среди крупнейших стратегия есть лишь у 38%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23% топ-менеджеров готовят планы широкого внедрения (hh.ru, 2025) — остальные покупают точечные инструменты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тратятся на технологии, решения принимаются без карты — типовой сценарий «дорогого бесконечного пилота»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ПРИЧИНА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ИИ-проекты убивают не модели. Их убивает неготовая управленческая команда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377440"/>
          <a:ext cx="58521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 BCG 10-20-70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58000" y="246888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MIT: причина провалов — «learning gap» организаций, а не качество моделей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McKinsey, 2025: сильнейший предиктор прибыли от ИИ — редизайн процессов; его сделали лишь 21% компаний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РФ: лишь 26% руководителей владеют навыком интеграции ИИ в процессы — самый дефицитный управленческий навык (СберУниверситет × Ассоциация менеджеров, 2026)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ДЕЛАТЬ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ИИ — образовательная и организационная трансформация. Возглавить её может только первое лицо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часов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неделю тратят CEO-лидеры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собственное ИИ-обучение · BCG AI Radar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20640" y="265176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BCG: ~3/4 CEO лично стали главными по ИИ; половина считает, что их позиция зависит от успеха ИИ-повестки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CEO-лидеры вдвое больше инвестируют в обучение управленческой команды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Лидеры РФ действуют так же: Совкомбанк провёл 34 000+ сотрудников через 5-уровневую программу → 8 из 10 используют ИИ ежедневно, 4 000+ инициатив за год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Правильная последовательность: сначала компетенции и решения топ-команды → потом технологии. Не наоборот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ПОЧЕМУ НЕ КУРСЫ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Отправить топ-менеджера на курс — значит купить знания. Вам нужны изменения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85 тыс. ₽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8620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онлайн-курс «ИИ для руководителя» — один слушатель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02152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0,6–1,0 млн ₽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03250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офлайн-интенсивы и мини-MBA — один слушатель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672584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782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1,6–1,85 млн ₽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520293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модульная программа бизнес-школы — один слушатель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нет ни в одной из этих программ: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283464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диагностики вашей компании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стратсессии с вашей топ-командой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 ваших пилотов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сопровождения до измеримого эффекта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4892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D9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«Вернувшийся с курса одиночка» проигрывает системе: без синхронизированной команды знания не конвертируются в решения.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УСТРОЕНО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контур — от диагностики до работающих пилотов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7033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недели: карта процессов и данных, ИИ-зрелость команды, шорт-лист зон эффекта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38144" y="2286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39312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команды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9312" y="37033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«про нейросети», а про решения: экономика ИИ-проектов, кейсы отрасли, инструменты на задачах компании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2286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323238"/>
          </a:solidFill>
          <a:ln w="15875">
            <a:solidFill>
              <a:srgbClr val="D9B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37376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Стратегическая сессия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7033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игротехническая методология: топ-команда сама собирает ИИ-стратегию, портфель пилотов, владельцев и метрики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34272" y="2286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35440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Пилоты с сопровождением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37033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ритм ревью, доведение 2–3 пилотов до измеримого эффекта, передача управления ИИ-портфелем внутрь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Закрываем разрыв, в котором гибнут 95% пилотов: знания → решения → запуск → эффект.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выходе — не сертификаты, а управляемая ИИ-трансформация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74720" cy="2651760"/>
          </a:xfrm>
          <a:prstGeom prst="roundRect">
            <a:avLst>
              <a:gd name="adj" fmla="val 2414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6112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Согласованная топ-командой ИИ-стратегия и дорожная карта — а не мнение одного «вдохновлённого» директора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377440"/>
            <a:ext cx="3474720" cy="2651760"/>
          </a:xfrm>
          <a:prstGeom prst="roundRect">
            <a:avLst>
              <a:gd name="adj" fmla="val 2414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53712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запущенных пилота с бизнес-метриками, владельцами и сроками окупаемости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2377440"/>
            <a:ext cx="3474720" cy="2651760"/>
          </a:xfrm>
          <a:prstGeom prst="roundRect">
            <a:avLst>
              <a:gd name="adj" fmla="val 2414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11312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Умеет отбирать, оценивать и масштабировать ИИ-инициативы без внешних консультантов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Редизайн процессов — сильнейший предиктор EBIT-эффекта от ИИ (McKinsey, 2025).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ПОЧЕМУ МЫ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Методология трансформационных сессий + экспертиза СКОЛКОВО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трансформационных стратегических сессий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среднего и крупного бизнеса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63440" y="2651760"/>
            <a:ext cx="685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Евгений Григорьев — стратег-игротехник, эксперт бизнес-школы СКОЛКОВО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Кейсы разработки цифровых стратегий: логистика (стратегия цифровизации до 2030), дистрибуция (стратегия масштабирования), запуск цифровой аналитической платформы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Игротехника заставляет команду прожить трансформацию и принять решения — а не прослушать лекцию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класс методологии, что в программах школ за 1,6+ млн ₽, — но на материале вашей компании и с вашей командой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БЕНЧМАРКИ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Те, кто внедряет через команду и процессы, уже считают эффект в миллиардах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03520" cy="1645920"/>
          </a:xfrm>
          <a:prstGeom prst="roundRect">
            <a:avLst>
              <a:gd name="adj" fmla="val 3889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+475 млрд ₽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383280" y="25146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Сбер: 700+ ИИ-инициатив за 2025;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них 50+ млрд — GenAI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2286000"/>
            <a:ext cx="5303520" cy="1645920"/>
          </a:xfrm>
          <a:prstGeom prst="roundRect">
            <a:avLst>
              <a:gd name="adj" fmla="val 3889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млрд 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869680" y="25146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Group: операционная прибыль от ИИ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2025, подтверждено A/B-тестами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303520" cy="1645920"/>
          </a:xfrm>
          <a:prstGeom prst="roundRect">
            <a:avLst>
              <a:gd name="adj" fmla="val 3889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из 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83280" y="43434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Совкомбанк: сотрудников используют ИИ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ежедневно после массового обучения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4114800"/>
            <a:ext cx="5303520" cy="1645920"/>
          </a:xfrm>
          <a:prstGeom prst="roundRect">
            <a:avLst>
              <a:gd name="adj" fmla="val 3889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трлн ₽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43434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потенциал для экономики РФ к 2030 —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вопрос, кто в отрасли заберёт долю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способа начать — по глубине готовности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74720" cy="2834640"/>
          </a:xfrm>
          <a:prstGeom prst="roundRect">
            <a:avLst>
              <a:gd name="adj" fmla="val 2258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Экспресс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96112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4–6 недель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 + обучающий модуль + стратсессия топ-команды → быстрый прототип ИИ-стратегии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474720" cy="2834640"/>
          </a:xfrm>
          <a:prstGeom prst="roundRect">
            <a:avLst>
              <a:gd name="adj" fmla="val 2258"/>
            </a:avLst>
          </a:prstGeom>
          <a:solidFill>
            <a:srgbClr val="323238"/>
          </a:solidFill>
          <a:ln w="15875">
            <a:solidFill>
              <a:srgbClr val="D9B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трансформации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553712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3–6 месяцев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53712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контур: диагностика → обучение → сессия → запуск пилотов с сопровождением до эффекта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331720"/>
            <a:ext cx="3474720" cy="2834640"/>
          </a:xfrm>
          <a:prstGeom prst="roundRect">
            <a:avLst>
              <a:gd name="adj" fmla="val 2258"/>
            </a:avLst>
          </a:prstGeom>
          <a:solidFill>
            <a:srgbClr val="2C2C31"/>
          </a:solidFill>
          <a:ln w="9525">
            <a:solidFill>
              <a:srgbClr val="3B3B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Годовое сопровождение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211312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месяцев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11312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29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ритм ревью ИИ-портфеля, дообучение команды, масштабирование пилотов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одного топ-менеджера на открытом рынке стоит 0,6–1,85 млн ₽. Здесь за сопоставимый бюджет работает вся управленческая команда — и на выходе запущенные пилоты.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ШАГ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Начнём с диагностики — до конца месяца вы увидите свою карту ИИ-эффекта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недели, минимальное вовлечение команды: интервью топов, аудит процессов и данных, оценка ИИ-зрелости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ценен сам по себе: шорт-лист зон эффекта с оценкой потенциала в деньгах — основа решения о программе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6035040" cy="1005840"/>
          </a:xfrm>
          <a:prstGeom prst="roundRect">
            <a:avLst>
              <a:gd name="adj" fmla="val 6364"/>
            </a:avLst>
          </a:prstGeom>
          <a:solidFill>
            <a:srgbClr val="2C2C31"/>
          </a:solidFill>
          <a:ln w="12700">
            <a:solidFill>
              <a:srgbClr val="D9B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Евгений Григорьев · DT-Team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5961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t.me/neurostrategy · стратегия · игротехника · цифровая трансформация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3920" y="45720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пилотов проваливаются у тех,</a:t>
            </a:r>
            <a:endParaRPr lang="en-US" sz="14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начал с технологий.</a:t>
            </a:r>
            <a:endParaRPr lang="en-US" sz="14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9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Начните с команды.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DT-TEAM · ВНЕДРЕНИЕ ИИ ЧЕРЕЗ ОБРАЗОВАНИЕ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0023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29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2026-08-11T06:13:32Z</dcterms:created>
  <dcterms:modified xsi:type="dcterms:W3CDTF">2026-08-11T06:13:32Z</dcterms:modified>
</cp:coreProperties>
</file>